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5"/>
  </p:notesMasterIdLst>
  <p:sldIdLst>
    <p:sldId id="256" r:id="rId2"/>
    <p:sldId id="259" r:id="rId3"/>
    <p:sldId id="257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70" r:id="rId12"/>
    <p:sldId id="271" r:id="rId13"/>
    <p:sldId id="272" r:id="rId14"/>
  </p:sldIdLst>
  <p:sldSz cx="9144000" cy="5143500" type="screen16x9"/>
  <p:notesSz cx="6858000" cy="9144000"/>
  <p:embeddedFontLst>
    <p:embeddedFont>
      <p:font typeface="Raleway" pitchFamily="2" charset="0"/>
      <p:regular r:id="rId16"/>
      <p:bold r:id="rId17"/>
      <p:italic r:id="rId18"/>
      <p:boldItalic r:id="rId19"/>
    </p:embeddedFont>
    <p:embeddedFont>
      <p:font typeface="Raleway Medium" pitchFamily="2" charset="0"/>
      <p:regular r:id="rId20"/>
      <p:bold r:id="rId21"/>
      <p:italic r:id="rId22"/>
      <p:boldItalic r:id="rId23"/>
    </p:embeddedFont>
    <p:embeddedFont>
      <p:font typeface="Tw Cen MT" panose="020B0602020104020603" pitchFamily="34" charset="0"/>
      <p:regular r:id="rId24"/>
      <p:bold r:id="rId25"/>
      <p:italic r:id="rId26"/>
      <p:boldItalic r:id="rId27"/>
    </p:embeddedFont>
    <p:embeddedFont>
      <p:font typeface="Tw Cen MT Condensed" panose="020B0606020104020203" pitchFamily="34" charset="0"/>
      <p:regular r:id="rId28"/>
      <p:bold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AABF18-0E06-4E61-A014-640B39D28501}">
  <a:tblStyle styleId="{4BAABF18-0E06-4E61-A014-640B39D285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162" autoAdjust="0"/>
  </p:normalViewPr>
  <p:slideViewPr>
    <p:cSldViewPr snapToGrid="0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92a9db238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92a9db238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166aa79a3_0_26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166aa79a3_0_26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92a9db238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92a9db238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84c8b615c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84c8b615c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9166aa79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9166aa79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84c8b615c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84c8b615c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9166aa79a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9166aa79a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9166aa79a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9166aa79a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9166aa79a3_0_26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9166aa79a3_0_26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9166aa79a3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9166aa79a3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9166aa79a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9166aa79a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77275" y="613150"/>
            <a:ext cx="4228500" cy="16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06916" y="2691852"/>
            <a:ext cx="3891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32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3225" y="1149550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5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-42160" y="-28110"/>
            <a:ext cx="9217500" cy="5199600"/>
          </a:xfrm>
          <a:prstGeom prst="rect">
            <a:avLst/>
          </a:prstGeom>
          <a:solidFill>
            <a:srgbClr val="364ABF">
              <a:alpha val="82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32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2664750" y="3045075"/>
            <a:ext cx="1526400" cy="3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16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>
            <a:off x="732737" y="2177311"/>
            <a:ext cx="3458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15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>
            <a:off x="4984975" y="3045075"/>
            <a:ext cx="1526400" cy="3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160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>
            <a:off x="4984987" y="2177311"/>
            <a:ext cx="3458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15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-155214" y="1756828"/>
            <a:ext cx="4508400" cy="184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4783664" y="1756828"/>
            <a:ext cx="4508400" cy="184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 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91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-42160" y="-28110"/>
            <a:ext cx="9217500" cy="5199600"/>
          </a:xfrm>
          <a:prstGeom prst="rect">
            <a:avLst/>
          </a:prstGeom>
          <a:solidFill>
            <a:srgbClr val="364ABF">
              <a:alpha val="82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59350" y="1041850"/>
            <a:ext cx="6625200" cy="7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3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37750" y="2011325"/>
            <a:ext cx="4868400" cy="18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1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/>
          <p:nvPr/>
        </p:nvSpPr>
        <p:spPr>
          <a:xfrm>
            <a:off x="-42160" y="-28110"/>
            <a:ext cx="9217500" cy="5199600"/>
          </a:xfrm>
          <a:prstGeom prst="rect">
            <a:avLst/>
          </a:prstGeom>
          <a:solidFill>
            <a:srgbClr val="364ABF">
              <a:alpha val="82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ubTitle" idx="1"/>
          </p:nvPr>
        </p:nvSpPr>
        <p:spPr>
          <a:xfrm>
            <a:off x="1628775" y="1623500"/>
            <a:ext cx="58863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l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2352675" y="3312050"/>
            <a:ext cx="4438500" cy="35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21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/>
        </p:nvSpPr>
        <p:spPr>
          <a:xfrm>
            <a:off x="0" y="2571756"/>
            <a:ext cx="9217500" cy="3339900"/>
          </a:xfrm>
          <a:prstGeom prst="rect">
            <a:avLst/>
          </a:prstGeom>
          <a:solidFill>
            <a:srgbClr val="364ABF">
              <a:alpha val="82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32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1081650" y="2856825"/>
            <a:ext cx="1526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2"/>
          </p:nvPr>
        </p:nvSpPr>
        <p:spPr>
          <a:xfrm>
            <a:off x="811650" y="3251878"/>
            <a:ext cx="2066400" cy="11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3"/>
          </p:nvPr>
        </p:nvSpPr>
        <p:spPr>
          <a:xfrm>
            <a:off x="3808800" y="2856825"/>
            <a:ext cx="1526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4"/>
          </p:nvPr>
        </p:nvSpPr>
        <p:spPr>
          <a:xfrm>
            <a:off x="3538800" y="3251878"/>
            <a:ext cx="2066400" cy="11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5"/>
          </p:nvPr>
        </p:nvSpPr>
        <p:spPr>
          <a:xfrm>
            <a:off x="6558625" y="2856825"/>
            <a:ext cx="1526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6"/>
          </p:nvPr>
        </p:nvSpPr>
        <p:spPr>
          <a:xfrm>
            <a:off x="6288625" y="3251878"/>
            <a:ext cx="2066400" cy="11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CUSTOM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82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063244" y="1573700"/>
            <a:ext cx="1526400" cy="3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9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665144" y="1968875"/>
            <a:ext cx="2322600" cy="6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3"/>
          </p:nvPr>
        </p:nvSpPr>
        <p:spPr>
          <a:xfrm>
            <a:off x="3725908" y="1573700"/>
            <a:ext cx="1526400" cy="3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9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4"/>
          </p:nvPr>
        </p:nvSpPr>
        <p:spPr>
          <a:xfrm>
            <a:off x="3326908" y="1970225"/>
            <a:ext cx="23244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5"/>
          </p:nvPr>
        </p:nvSpPr>
        <p:spPr>
          <a:xfrm>
            <a:off x="6540219" y="1573700"/>
            <a:ext cx="1526400" cy="3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9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6"/>
          </p:nvPr>
        </p:nvSpPr>
        <p:spPr>
          <a:xfrm>
            <a:off x="6142119" y="1970225"/>
            <a:ext cx="23226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7"/>
          </p:nvPr>
        </p:nvSpPr>
        <p:spPr>
          <a:xfrm>
            <a:off x="1063244" y="3118075"/>
            <a:ext cx="1526400" cy="3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9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8"/>
          </p:nvPr>
        </p:nvSpPr>
        <p:spPr>
          <a:xfrm>
            <a:off x="665144" y="3513257"/>
            <a:ext cx="23226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9"/>
          </p:nvPr>
        </p:nvSpPr>
        <p:spPr>
          <a:xfrm>
            <a:off x="3725908" y="3118075"/>
            <a:ext cx="1526400" cy="3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9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3"/>
          </p:nvPr>
        </p:nvSpPr>
        <p:spPr>
          <a:xfrm>
            <a:off x="3327808" y="3513257"/>
            <a:ext cx="23226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4"/>
          </p:nvPr>
        </p:nvSpPr>
        <p:spPr>
          <a:xfrm>
            <a:off x="6540219" y="3118075"/>
            <a:ext cx="1526400" cy="3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9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5"/>
          </p:nvPr>
        </p:nvSpPr>
        <p:spPr>
          <a:xfrm>
            <a:off x="6142119" y="3513257"/>
            <a:ext cx="23226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32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473325" y="1478850"/>
            <a:ext cx="7492500" cy="22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6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2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608025" y="296000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ubTitle" idx="1"/>
          </p:nvPr>
        </p:nvSpPr>
        <p:spPr>
          <a:xfrm>
            <a:off x="1107450" y="1579247"/>
            <a:ext cx="22047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1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ubTitle" idx="2"/>
          </p:nvPr>
        </p:nvSpPr>
        <p:spPr>
          <a:xfrm>
            <a:off x="1107450" y="1943950"/>
            <a:ext cx="27408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15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ubTitle" idx="3"/>
          </p:nvPr>
        </p:nvSpPr>
        <p:spPr>
          <a:xfrm>
            <a:off x="5587353" y="1550197"/>
            <a:ext cx="22047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1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ubTitle" idx="4"/>
          </p:nvPr>
        </p:nvSpPr>
        <p:spPr>
          <a:xfrm>
            <a:off x="5293353" y="1915625"/>
            <a:ext cx="27432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15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ubTitle" idx="5"/>
          </p:nvPr>
        </p:nvSpPr>
        <p:spPr>
          <a:xfrm>
            <a:off x="1107450" y="3244425"/>
            <a:ext cx="22047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1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6"/>
          </p:nvPr>
        </p:nvSpPr>
        <p:spPr>
          <a:xfrm>
            <a:off x="1107450" y="3617380"/>
            <a:ext cx="27432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15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7"/>
          </p:nvPr>
        </p:nvSpPr>
        <p:spPr>
          <a:xfrm>
            <a:off x="5587353" y="3216128"/>
            <a:ext cx="22047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1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8"/>
          </p:nvPr>
        </p:nvSpPr>
        <p:spPr>
          <a:xfrm>
            <a:off x="5293353" y="3589074"/>
            <a:ext cx="27432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15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 1">
  <p:cSld name="CUSTOM_2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-42160" y="-28110"/>
            <a:ext cx="9217500" cy="5199600"/>
          </a:xfrm>
          <a:prstGeom prst="rect">
            <a:avLst/>
          </a:prstGeom>
          <a:solidFill>
            <a:srgbClr val="364ABF">
              <a:alpha val="82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608025" y="296000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1174225" y="1579247"/>
            <a:ext cx="22047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1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2"/>
          </p:nvPr>
        </p:nvSpPr>
        <p:spPr>
          <a:xfrm>
            <a:off x="638125" y="1943950"/>
            <a:ext cx="27408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15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3"/>
          </p:nvPr>
        </p:nvSpPr>
        <p:spPr>
          <a:xfrm>
            <a:off x="5783903" y="1550197"/>
            <a:ext cx="22047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1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4"/>
          </p:nvPr>
        </p:nvSpPr>
        <p:spPr>
          <a:xfrm>
            <a:off x="5783903" y="1915625"/>
            <a:ext cx="27432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15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5"/>
          </p:nvPr>
        </p:nvSpPr>
        <p:spPr>
          <a:xfrm>
            <a:off x="1174225" y="3244425"/>
            <a:ext cx="22047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1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6"/>
          </p:nvPr>
        </p:nvSpPr>
        <p:spPr>
          <a:xfrm>
            <a:off x="635725" y="3617380"/>
            <a:ext cx="27432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15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ubTitle" idx="7"/>
          </p:nvPr>
        </p:nvSpPr>
        <p:spPr>
          <a:xfrm>
            <a:off x="5783903" y="3216128"/>
            <a:ext cx="22047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1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ubTitle" idx="8"/>
          </p:nvPr>
        </p:nvSpPr>
        <p:spPr>
          <a:xfrm>
            <a:off x="5783903" y="3589074"/>
            <a:ext cx="27432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15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32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49550"/>
            <a:ext cx="811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  <a:defRPr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7" r:id="rId11"/>
    <p:sldLayoutId id="214748366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577274" y="288030"/>
            <a:ext cx="5050639" cy="4431539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 FACTORS THAT AFFECT LIFE EXPECTANCY</a:t>
            </a:r>
            <a:br>
              <a:rPr lang="en-US" sz="9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900" dirty="0">
                <a:solidFill>
                  <a:schemeClr val="accent4"/>
                </a:solidFill>
              </a:rPr>
            </a:br>
            <a:br>
              <a:rPr lang="en-US" sz="900" dirty="0">
                <a:solidFill>
                  <a:schemeClr val="accent4"/>
                </a:solidFill>
              </a:rPr>
            </a:br>
            <a:br>
              <a:rPr lang="en-US" sz="900" dirty="0">
                <a:solidFill>
                  <a:schemeClr val="accent4"/>
                </a:solidFill>
              </a:rPr>
            </a:br>
            <a:br>
              <a:rPr lang="en-US" sz="900" dirty="0">
                <a:solidFill>
                  <a:schemeClr val="accent4"/>
                </a:solidFill>
              </a:rPr>
            </a:br>
            <a:br>
              <a:rPr lang="en-US" sz="900" dirty="0">
                <a:solidFill>
                  <a:schemeClr val="accent4"/>
                </a:solidFill>
              </a:rPr>
            </a:br>
            <a:r>
              <a:rPr lang="en-US" sz="1600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Presented by</a:t>
            </a:r>
            <a:br>
              <a:rPr lang="en-US" sz="900" dirty="0">
                <a:solidFill>
                  <a:schemeClr val="accent4"/>
                </a:solidFill>
                <a:latin typeface="Tw Cen MT Condensed" panose="020B0606020104020203" pitchFamily="34" charset="0"/>
              </a:rPr>
            </a:br>
            <a:br>
              <a:rPr lang="en-US" sz="900" dirty="0">
                <a:solidFill>
                  <a:schemeClr val="accent4"/>
                </a:solidFill>
                <a:latin typeface="Tw Cen MT Condensed" panose="020B0606020104020203" pitchFamily="34" charset="0"/>
              </a:rPr>
            </a:br>
            <a:br>
              <a:rPr lang="en-US" sz="4000" dirty="0">
                <a:solidFill>
                  <a:schemeClr val="accent4"/>
                </a:solidFill>
                <a:latin typeface="Tw Cen MT Condensed" panose="020B0606020104020203" pitchFamily="34" charset="0"/>
              </a:rPr>
            </a:br>
            <a:r>
              <a:rPr lang="en-US"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ADEDOKUN ENIOLA</a:t>
            </a:r>
            <a:br>
              <a:rPr lang="en-US" sz="1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0" dirty="0">
                <a:solidFill>
                  <a:schemeClr val="accent4"/>
                </a:solidFill>
                <a:latin typeface="Tw Cen MT Condensed" panose="020B0606020104020203" pitchFamily="34" charset="0"/>
              </a:rPr>
            </a:br>
            <a:r>
              <a:rPr lang="en-US" sz="1600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April, 2025</a:t>
            </a:r>
            <a:br>
              <a:rPr lang="en-US" sz="4000" dirty="0">
                <a:solidFill>
                  <a:srgbClr val="333399"/>
                </a:solidFill>
                <a:latin typeface="Tw Cen MT Condensed" panose="020B0606020104020203" pitchFamily="34" charset="0"/>
              </a:rPr>
            </a:br>
            <a:endParaRPr dirty="0"/>
          </a:p>
        </p:txBody>
      </p:sp>
      <p:grpSp>
        <p:nvGrpSpPr>
          <p:cNvPr id="18" name="Google Shape;132;p25">
            <a:extLst>
              <a:ext uri="{FF2B5EF4-FFF2-40B4-BE49-F238E27FC236}">
                <a16:creationId xmlns:a16="http://schemas.microsoft.com/office/drawing/2014/main" id="{151CF809-21A6-4721-A2B9-D2AB793FED11}"/>
              </a:ext>
            </a:extLst>
          </p:cNvPr>
          <p:cNvGrpSpPr/>
          <p:nvPr/>
        </p:nvGrpSpPr>
        <p:grpSpPr>
          <a:xfrm>
            <a:off x="2527080" y="4855470"/>
            <a:ext cx="1151025" cy="135900"/>
            <a:chOff x="706950" y="2370102"/>
            <a:chExt cx="1151025" cy="135900"/>
          </a:xfrm>
        </p:grpSpPr>
        <p:sp>
          <p:nvSpPr>
            <p:cNvPr id="19" name="Google Shape;133;p25">
              <a:extLst>
                <a:ext uri="{FF2B5EF4-FFF2-40B4-BE49-F238E27FC236}">
                  <a16:creationId xmlns:a16="http://schemas.microsoft.com/office/drawing/2014/main" id="{945376CF-D016-4246-A667-C25C068EBF90}"/>
                </a:ext>
              </a:extLst>
            </p:cNvPr>
            <p:cNvSpPr/>
            <p:nvPr/>
          </p:nvSpPr>
          <p:spPr>
            <a:xfrm>
              <a:off x="706950" y="2370102"/>
              <a:ext cx="135900" cy="135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4;p25">
              <a:extLst>
                <a:ext uri="{FF2B5EF4-FFF2-40B4-BE49-F238E27FC236}">
                  <a16:creationId xmlns:a16="http://schemas.microsoft.com/office/drawing/2014/main" id="{215A7EF3-1115-49E1-99C6-749462A6BCE0}"/>
                </a:ext>
              </a:extLst>
            </p:cNvPr>
            <p:cNvSpPr/>
            <p:nvPr/>
          </p:nvSpPr>
          <p:spPr>
            <a:xfrm>
              <a:off x="906350" y="2370102"/>
              <a:ext cx="135900" cy="135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5;p25">
              <a:extLst>
                <a:ext uri="{FF2B5EF4-FFF2-40B4-BE49-F238E27FC236}">
                  <a16:creationId xmlns:a16="http://schemas.microsoft.com/office/drawing/2014/main" id="{9FF9FCA1-58D9-4D36-832B-C7F6E15E2FE3}"/>
                </a:ext>
              </a:extLst>
            </p:cNvPr>
            <p:cNvSpPr/>
            <p:nvPr/>
          </p:nvSpPr>
          <p:spPr>
            <a:xfrm>
              <a:off x="1105750" y="2370102"/>
              <a:ext cx="135900" cy="135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6;p25">
              <a:extLst>
                <a:ext uri="{FF2B5EF4-FFF2-40B4-BE49-F238E27FC236}">
                  <a16:creationId xmlns:a16="http://schemas.microsoft.com/office/drawing/2014/main" id="{CD9B64DA-5CA8-49C7-B8B8-2171216E3B4D}"/>
                </a:ext>
              </a:extLst>
            </p:cNvPr>
            <p:cNvSpPr/>
            <p:nvPr/>
          </p:nvSpPr>
          <p:spPr>
            <a:xfrm>
              <a:off x="1323275" y="2370102"/>
              <a:ext cx="135900" cy="135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7;p25">
              <a:extLst>
                <a:ext uri="{FF2B5EF4-FFF2-40B4-BE49-F238E27FC236}">
                  <a16:creationId xmlns:a16="http://schemas.microsoft.com/office/drawing/2014/main" id="{38367809-FDBB-42D6-82BD-85A960EE624D}"/>
                </a:ext>
              </a:extLst>
            </p:cNvPr>
            <p:cNvSpPr/>
            <p:nvPr/>
          </p:nvSpPr>
          <p:spPr>
            <a:xfrm>
              <a:off x="1522675" y="2370102"/>
              <a:ext cx="135900" cy="135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;p25">
              <a:extLst>
                <a:ext uri="{FF2B5EF4-FFF2-40B4-BE49-F238E27FC236}">
                  <a16:creationId xmlns:a16="http://schemas.microsoft.com/office/drawing/2014/main" id="{55ED4964-A2D9-42D6-B8CC-23DCA949A126}"/>
                </a:ext>
              </a:extLst>
            </p:cNvPr>
            <p:cNvSpPr/>
            <p:nvPr/>
          </p:nvSpPr>
          <p:spPr>
            <a:xfrm>
              <a:off x="1722075" y="2370102"/>
              <a:ext cx="135900" cy="135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8"/>
          <p:cNvGrpSpPr/>
          <p:nvPr/>
        </p:nvGrpSpPr>
        <p:grpSpPr>
          <a:xfrm>
            <a:off x="606850" y="1092677"/>
            <a:ext cx="959450" cy="99600"/>
            <a:chOff x="774912" y="910870"/>
            <a:chExt cx="959450" cy="99600"/>
          </a:xfrm>
        </p:grpSpPr>
        <p:sp>
          <p:nvSpPr>
            <p:cNvPr id="175" name="Google Shape;175;p28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" name="Google Shape;181;p28"/>
          <p:cNvSpPr txBox="1">
            <a:spLocks noGrp="1"/>
          </p:cNvSpPr>
          <p:nvPr>
            <p:ph type="subTitle" idx="1"/>
          </p:nvPr>
        </p:nvSpPr>
        <p:spPr>
          <a:xfrm>
            <a:off x="78806" y="1192277"/>
            <a:ext cx="4025107" cy="38572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w Cen MT" panose="020B0602020104020603" pitchFamily="34" charset="0"/>
              </a:rPr>
              <a:t>An overview of life expectancy trends globally</a:t>
            </a:r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w Cen MT" panose="020B0602020104020603" pitchFamily="34" charset="0"/>
              </a:rPr>
              <a:t>Importance of understanding influencing factors (immunization rate, GDP, social factors and mortality rate)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w Cen MT" panose="020B0602020104020603" pitchFamily="34" charset="0"/>
              </a:rPr>
              <a:t>Dataset covers 193 countries (2000–2015)</a:t>
            </a:r>
            <a:endParaRPr sz="2400" b="1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11" name="Google Shape;173;p28">
            <a:extLst>
              <a:ext uri="{FF2B5EF4-FFF2-40B4-BE49-F238E27FC236}">
                <a16:creationId xmlns:a16="http://schemas.microsoft.com/office/drawing/2014/main" id="{727024ED-34A5-4A30-9F1C-403ABBA8F3C6}"/>
              </a:ext>
            </a:extLst>
          </p:cNvPr>
          <p:cNvSpPr txBox="1">
            <a:spLocks/>
          </p:cNvSpPr>
          <p:nvPr/>
        </p:nvSpPr>
        <p:spPr>
          <a:xfrm>
            <a:off x="215237" y="352877"/>
            <a:ext cx="3439061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38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>
                <a:solidFill>
                  <a:schemeClr val="bg1"/>
                </a:solidFill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25BCB-4C55-4354-BC5B-E0C4E2433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-13964"/>
            <a:ext cx="5475513" cy="5175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608025" y="187118"/>
            <a:ext cx="41635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TABLE OF CONTENTS</a:t>
            </a:r>
            <a:endParaRPr sz="3600" u="sng" dirty="0">
              <a:solidFill>
                <a:schemeClr val="accent4"/>
              </a:solidFill>
            </a:endParaRPr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713227" y="990600"/>
            <a:ext cx="4163574" cy="39657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1. Introduction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2. Aims and Objectives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3. Data Description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4. Data Source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5. Project Process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6. Data Presentation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7. Key Insight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8. Recommendation For Stakeholders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w Cen MT Condensed" panose="020B0606020104020203" pitchFamily="34" charset="0"/>
              </a:rPr>
              <a:t>9. Project Limitation</a:t>
            </a:r>
          </a:p>
          <a:p>
            <a:pPr marL="342900">
              <a:buAutoNum type="arabicPeriod"/>
            </a:pPr>
            <a:endParaRPr sz="1400" dirty="0">
              <a:solidFill>
                <a:schemeClr val="accent2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D0F6C67-68D9-4517-88BD-36883A7EF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657" y="0"/>
            <a:ext cx="45284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>
            <a:spLocks noGrp="1"/>
          </p:cNvSpPr>
          <p:nvPr>
            <p:ph type="title"/>
          </p:nvPr>
        </p:nvSpPr>
        <p:spPr>
          <a:xfrm>
            <a:off x="608025" y="296000"/>
            <a:ext cx="416531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 &amp; OBJECTIVES</a:t>
            </a:r>
            <a:endParaRPr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87" name="Google Shape;187;p29"/>
          <p:cNvGrpSpPr/>
          <p:nvPr/>
        </p:nvGrpSpPr>
        <p:grpSpPr>
          <a:xfrm>
            <a:off x="923711" y="818900"/>
            <a:ext cx="959450" cy="99600"/>
            <a:chOff x="774912" y="910870"/>
            <a:chExt cx="959450" cy="99600"/>
          </a:xfrm>
        </p:grpSpPr>
        <p:sp>
          <p:nvSpPr>
            <p:cNvPr id="188" name="Google Shape;188;p29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9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9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9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29"/>
          <p:cNvSpPr txBox="1">
            <a:spLocks noGrp="1"/>
          </p:cNvSpPr>
          <p:nvPr>
            <p:ph type="subTitle" idx="2"/>
          </p:nvPr>
        </p:nvSpPr>
        <p:spPr>
          <a:xfrm>
            <a:off x="584505" y="1208314"/>
            <a:ext cx="3780664" cy="3831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 Condensed" panose="020B0606020104020203" pitchFamily="34" charset="0"/>
              </a:rPr>
              <a:t>Prepare clean, accurate data with Power Query.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 Condensed" panose="020B0606020104020203" pitchFamily="34" charset="0"/>
              </a:rPr>
              <a:t>Analyze effects of GDP, immunization, mortality, and social factors.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 Condensed" panose="020B0606020104020203" pitchFamily="34" charset="0"/>
              </a:rPr>
              <a:t>Visualize insights with Power BI dashboards.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 Condensed" panose="020B0606020104020203" pitchFamily="34" charset="0"/>
              </a:rPr>
              <a:t>Identify key predictors of low life expectancy.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 Condensed" panose="020B0606020104020203" pitchFamily="34" charset="0"/>
              </a:rPr>
              <a:t>Enable data-driven strategies for better health outcomes.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2" name="Google Shape;202;p29"/>
          <p:cNvCxnSpPr/>
          <p:nvPr/>
        </p:nvCxnSpPr>
        <p:spPr>
          <a:xfrm rot="10800000">
            <a:off x="4576314" y="1620050"/>
            <a:ext cx="0" cy="27090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6BC5CF9-7E1B-41B1-9071-2C1D986AA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854" y="0"/>
            <a:ext cx="446314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0"/>
          <p:cNvPicPr preferRelativeResize="0"/>
          <p:nvPr/>
        </p:nvPicPr>
        <p:blipFill rotWithShape="1">
          <a:blip r:embed="rId3">
            <a:alphaModFix/>
          </a:blip>
          <a:srcRect l="-2162" t="16781" r="-813" b="18722"/>
          <a:stretch/>
        </p:blipFill>
        <p:spPr>
          <a:xfrm>
            <a:off x="-203932" y="2571749"/>
            <a:ext cx="9480300" cy="333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/>
        </p:nvSpPr>
        <p:spPr>
          <a:xfrm>
            <a:off x="0" y="2571756"/>
            <a:ext cx="9217500" cy="3339900"/>
          </a:xfrm>
          <a:prstGeom prst="rect">
            <a:avLst/>
          </a:prstGeom>
          <a:solidFill>
            <a:srgbClr val="364ABF">
              <a:alpha val="82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0"/>
          <p:cNvSpPr/>
          <p:nvPr/>
        </p:nvSpPr>
        <p:spPr>
          <a:xfrm>
            <a:off x="108858" y="1391225"/>
            <a:ext cx="1733953" cy="4024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0"/>
          <p:cNvSpPr/>
          <p:nvPr/>
        </p:nvSpPr>
        <p:spPr>
          <a:xfrm>
            <a:off x="1853986" y="1391225"/>
            <a:ext cx="1745128" cy="4024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0"/>
          <p:cNvSpPr/>
          <p:nvPr/>
        </p:nvSpPr>
        <p:spPr>
          <a:xfrm>
            <a:off x="3635992" y="1391225"/>
            <a:ext cx="1884096" cy="4024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32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DATA DESCRIPTION</a:t>
            </a:r>
            <a:endParaRPr sz="2400" dirty="0"/>
          </a:p>
        </p:txBody>
      </p:sp>
      <p:sp>
        <p:nvSpPr>
          <p:cNvPr id="214" name="Google Shape;214;p30"/>
          <p:cNvSpPr txBox="1">
            <a:spLocks noGrp="1"/>
          </p:cNvSpPr>
          <p:nvPr>
            <p:ph type="subTitle" idx="2"/>
          </p:nvPr>
        </p:nvSpPr>
        <p:spPr>
          <a:xfrm>
            <a:off x="71980" y="3691440"/>
            <a:ext cx="1745128" cy="1156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Expected years of life at birth.</a:t>
            </a:r>
            <a:endParaRPr sz="1600" b="1" dirty="0">
              <a:solidFill>
                <a:schemeClr val="bg1"/>
              </a:solidFill>
            </a:endParaRPr>
          </a:p>
        </p:txBody>
      </p:sp>
      <p:grpSp>
        <p:nvGrpSpPr>
          <p:cNvPr id="219" name="Google Shape;219;p30"/>
          <p:cNvGrpSpPr/>
          <p:nvPr/>
        </p:nvGrpSpPr>
        <p:grpSpPr>
          <a:xfrm>
            <a:off x="718622" y="910870"/>
            <a:ext cx="959450" cy="99600"/>
            <a:chOff x="774912" y="910870"/>
            <a:chExt cx="959450" cy="99600"/>
          </a:xfrm>
        </p:grpSpPr>
        <p:sp>
          <p:nvSpPr>
            <p:cNvPr id="220" name="Google Shape;220;p30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BADF7C32-1409-4CEF-9698-B816829C9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851" y="3015201"/>
            <a:ext cx="1765915" cy="676232"/>
          </a:xfrm>
        </p:spPr>
        <p:txBody>
          <a:bodyPr/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1. </a:t>
            </a:r>
            <a:r>
              <a:rPr lang="en-US" sz="1600" u="sng" dirty="0">
                <a:solidFill>
                  <a:schemeClr val="bg1"/>
                </a:solidFill>
              </a:rPr>
              <a:t>Life</a:t>
            </a:r>
          </a:p>
          <a:p>
            <a:r>
              <a:rPr lang="en-US" sz="1600" u="sng" dirty="0">
                <a:solidFill>
                  <a:schemeClr val="bg1"/>
                </a:solidFill>
              </a:rPr>
              <a:t>Expectancy</a:t>
            </a:r>
          </a:p>
        </p:txBody>
      </p:sp>
      <p:sp>
        <p:nvSpPr>
          <p:cNvPr id="38" name="Google Shape;211;p30">
            <a:extLst>
              <a:ext uri="{FF2B5EF4-FFF2-40B4-BE49-F238E27FC236}">
                <a16:creationId xmlns:a16="http://schemas.microsoft.com/office/drawing/2014/main" id="{FDFACA59-57B8-4179-8025-363D6991B353}"/>
              </a:ext>
            </a:extLst>
          </p:cNvPr>
          <p:cNvSpPr/>
          <p:nvPr/>
        </p:nvSpPr>
        <p:spPr>
          <a:xfrm>
            <a:off x="5516313" y="1391225"/>
            <a:ext cx="1702779" cy="4024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211;p30">
            <a:extLst>
              <a:ext uri="{FF2B5EF4-FFF2-40B4-BE49-F238E27FC236}">
                <a16:creationId xmlns:a16="http://schemas.microsoft.com/office/drawing/2014/main" id="{9488CE7D-14AB-4D43-88C0-CD67B327C097}"/>
              </a:ext>
            </a:extLst>
          </p:cNvPr>
          <p:cNvSpPr/>
          <p:nvPr/>
        </p:nvSpPr>
        <p:spPr>
          <a:xfrm>
            <a:off x="7218053" y="1391225"/>
            <a:ext cx="1884096" cy="4024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3A46A9-2815-49CB-A2AF-07D73A990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0" y="1120672"/>
            <a:ext cx="1790683" cy="1894530"/>
          </a:xfrm>
          <a:prstGeom prst="rect">
            <a:avLst/>
          </a:prstGeom>
        </p:spPr>
      </p:pic>
      <p:sp>
        <p:nvSpPr>
          <p:cNvPr id="44" name="Subtitle 4">
            <a:extLst>
              <a:ext uri="{FF2B5EF4-FFF2-40B4-BE49-F238E27FC236}">
                <a16:creationId xmlns:a16="http://schemas.microsoft.com/office/drawing/2014/main" id="{F4EF15A2-1EEF-43AA-B570-987077FF8D22}"/>
              </a:ext>
            </a:extLst>
          </p:cNvPr>
          <p:cNvSpPr txBox="1">
            <a:spLocks/>
          </p:cNvSpPr>
          <p:nvPr/>
        </p:nvSpPr>
        <p:spPr>
          <a:xfrm>
            <a:off x="1851638" y="3103316"/>
            <a:ext cx="1765915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aleway"/>
              <a:buNone/>
              <a:defRPr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2. </a:t>
            </a:r>
            <a:r>
              <a:rPr lang="en-US" sz="1600" u="sng" dirty="0"/>
              <a:t>Hepatitis B</a:t>
            </a:r>
            <a:endParaRPr lang="en-US" sz="1600" u="sng" dirty="0">
              <a:solidFill>
                <a:schemeClr val="bg1"/>
              </a:solidFill>
            </a:endParaRPr>
          </a:p>
        </p:txBody>
      </p:sp>
      <p:sp>
        <p:nvSpPr>
          <p:cNvPr id="45" name="Subtitle 4">
            <a:extLst>
              <a:ext uri="{FF2B5EF4-FFF2-40B4-BE49-F238E27FC236}">
                <a16:creationId xmlns:a16="http://schemas.microsoft.com/office/drawing/2014/main" id="{813F73B7-9AD9-437B-ADF7-E6616E4A46A1}"/>
              </a:ext>
            </a:extLst>
          </p:cNvPr>
          <p:cNvSpPr txBox="1">
            <a:spLocks/>
          </p:cNvSpPr>
          <p:nvPr/>
        </p:nvSpPr>
        <p:spPr>
          <a:xfrm>
            <a:off x="1816682" y="3664101"/>
            <a:ext cx="1765915" cy="924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aleway"/>
              <a:buNone/>
              <a:defRPr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Percentage </a:t>
            </a:r>
            <a:r>
              <a:rPr lang="en-US" sz="1600" dirty="0"/>
              <a:t>of 1-year-olds immunized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6" name="Subtitle 4">
            <a:extLst>
              <a:ext uri="{FF2B5EF4-FFF2-40B4-BE49-F238E27FC236}">
                <a16:creationId xmlns:a16="http://schemas.microsoft.com/office/drawing/2014/main" id="{06A78F67-1EC3-44A6-AD8D-82C84282AD92}"/>
              </a:ext>
            </a:extLst>
          </p:cNvPr>
          <p:cNvSpPr txBox="1">
            <a:spLocks/>
          </p:cNvSpPr>
          <p:nvPr/>
        </p:nvSpPr>
        <p:spPr>
          <a:xfrm>
            <a:off x="3695082" y="3091734"/>
            <a:ext cx="1765915" cy="67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aleway"/>
              <a:buNone/>
              <a:defRPr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3. </a:t>
            </a:r>
            <a:r>
              <a:rPr lang="en-US" sz="1800" u="sng" dirty="0"/>
              <a:t>GDP</a:t>
            </a:r>
            <a:endParaRPr lang="en-US" sz="1800" u="sng" dirty="0">
              <a:solidFill>
                <a:schemeClr val="bg1"/>
              </a:solidFill>
            </a:endParaRPr>
          </a:p>
        </p:txBody>
      </p:sp>
      <p:sp>
        <p:nvSpPr>
          <p:cNvPr id="47" name="Subtitle 4">
            <a:extLst>
              <a:ext uri="{FF2B5EF4-FFF2-40B4-BE49-F238E27FC236}">
                <a16:creationId xmlns:a16="http://schemas.microsoft.com/office/drawing/2014/main" id="{5E234265-2B9F-4B46-9C6F-C7D841FF5226}"/>
              </a:ext>
            </a:extLst>
          </p:cNvPr>
          <p:cNvSpPr txBox="1">
            <a:spLocks/>
          </p:cNvSpPr>
          <p:nvPr/>
        </p:nvSpPr>
        <p:spPr>
          <a:xfrm>
            <a:off x="3615441" y="3722137"/>
            <a:ext cx="1880321" cy="115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aleway"/>
              <a:buNone/>
              <a:defRPr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US" sz="1400" dirty="0"/>
              <a:t>Gross Domestic Product per capita (in USD).</a:t>
            </a:r>
            <a:endParaRPr lang="en-US" sz="1600" u="sng" dirty="0">
              <a:solidFill>
                <a:schemeClr val="bg1"/>
              </a:solidFill>
            </a:endParaRPr>
          </a:p>
        </p:txBody>
      </p:sp>
      <p:sp>
        <p:nvSpPr>
          <p:cNvPr id="48" name="Subtitle 4">
            <a:extLst>
              <a:ext uri="{FF2B5EF4-FFF2-40B4-BE49-F238E27FC236}">
                <a16:creationId xmlns:a16="http://schemas.microsoft.com/office/drawing/2014/main" id="{52A5A493-77E7-425B-A38F-2DBAFE2E5F79}"/>
              </a:ext>
            </a:extLst>
          </p:cNvPr>
          <p:cNvSpPr txBox="1">
            <a:spLocks/>
          </p:cNvSpPr>
          <p:nvPr/>
        </p:nvSpPr>
        <p:spPr>
          <a:xfrm>
            <a:off x="5538527" y="3013062"/>
            <a:ext cx="1609613" cy="67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aleway"/>
              <a:buNone/>
              <a:defRPr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4. </a:t>
            </a:r>
            <a:r>
              <a:rPr lang="en-US" sz="1600" u="sng" dirty="0"/>
              <a:t>Schooling</a:t>
            </a:r>
            <a:endParaRPr lang="en-US" sz="1600" u="sng" dirty="0">
              <a:solidFill>
                <a:schemeClr val="bg1"/>
              </a:solidFill>
            </a:endParaRPr>
          </a:p>
        </p:txBody>
      </p:sp>
      <p:sp>
        <p:nvSpPr>
          <p:cNvPr id="49" name="Subtitle 4">
            <a:extLst>
              <a:ext uri="{FF2B5EF4-FFF2-40B4-BE49-F238E27FC236}">
                <a16:creationId xmlns:a16="http://schemas.microsoft.com/office/drawing/2014/main" id="{7034429C-3581-4723-ADBF-C90A3B41CF89}"/>
              </a:ext>
            </a:extLst>
          </p:cNvPr>
          <p:cNvSpPr txBox="1">
            <a:spLocks/>
          </p:cNvSpPr>
          <p:nvPr/>
        </p:nvSpPr>
        <p:spPr>
          <a:xfrm>
            <a:off x="5586226" y="3667001"/>
            <a:ext cx="1765915" cy="118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aleway"/>
              <a:buNone/>
              <a:defRPr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US" sz="1400" dirty="0"/>
              <a:t>Average years of education (age 25+).</a:t>
            </a:r>
            <a:endParaRPr lang="en-US" sz="1600" u="sng" dirty="0">
              <a:solidFill>
                <a:schemeClr val="bg1"/>
              </a:solidFill>
            </a:endParaRPr>
          </a:p>
        </p:txBody>
      </p:sp>
      <p:sp>
        <p:nvSpPr>
          <p:cNvPr id="50" name="Subtitle 4">
            <a:extLst>
              <a:ext uri="{FF2B5EF4-FFF2-40B4-BE49-F238E27FC236}">
                <a16:creationId xmlns:a16="http://schemas.microsoft.com/office/drawing/2014/main" id="{0BC4BFCC-087B-453D-AB2F-203214C847A0}"/>
              </a:ext>
            </a:extLst>
          </p:cNvPr>
          <p:cNvSpPr txBox="1">
            <a:spLocks/>
          </p:cNvSpPr>
          <p:nvPr/>
        </p:nvSpPr>
        <p:spPr>
          <a:xfrm>
            <a:off x="7206499" y="2972656"/>
            <a:ext cx="1884096" cy="71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aleway"/>
              <a:buNone/>
              <a:defRPr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5. </a:t>
            </a:r>
            <a:r>
              <a:rPr lang="en-US" sz="1600" u="sng" dirty="0"/>
              <a:t>Adult Mortality</a:t>
            </a:r>
            <a:endParaRPr lang="en-US" sz="1600" u="sng" dirty="0">
              <a:solidFill>
                <a:schemeClr val="bg1"/>
              </a:solidFill>
            </a:endParaRPr>
          </a:p>
        </p:txBody>
      </p:sp>
      <p:sp>
        <p:nvSpPr>
          <p:cNvPr id="51" name="Subtitle 4">
            <a:extLst>
              <a:ext uri="{FF2B5EF4-FFF2-40B4-BE49-F238E27FC236}">
                <a16:creationId xmlns:a16="http://schemas.microsoft.com/office/drawing/2014/main" id="{A63CE33D-ABC1-418A-BB49-6A2F2B8A8517}"/>
              </a:ext>
            </a:extLst>
          </p:cNvPr>
          <p:cNvSpPr txBox="1">
            <a:spLocks/>
          </p:cNvSpPr>
          <p:nvPr/>
        </p:nvSpPr>
        <p:spPr>
          <a:xfrm>
            <a:off x="7266791" y="3676134"/>
            <a:ext cx="1805229" cy="102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aleway"/>
              <a:buNone/>
              <a:defRPr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US" sz="1400" dirty="0"/>
              <a:t>Number of deaths per 1,000 aged (15–60)</a:t>
            </a:r>
          </a:p>
          <a:p>
            <a:pPr algn="l"/>
            <a:endParaRPr lang="en-US" sz="1600" u="sng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1B593E-FE01-4707-A1A3-655F7BF3A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680" y="1120671"/>
            <a:ext cx="1691434" cy="18519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FF8B62-8118-4468-9441-5D2375971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3984" y="1120671"/>
            <a:ext cx="1815451" cy="18666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64AF2F-6088-4186-8FE2-AEE28AD557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967" y="1120671"/>
            <a:ext cx="1628242" cy="18666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BFCBD1-32DE-44AB-AA52-9D72582CEC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2201" y="1120671"/>
            <a:ext cx="1918307" cy="18666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782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SOURCE</a:t>
            </a:r>
            <a:endParaRPr dirty="0"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2"/>
          </p:nvPr>
        </p:nvSpPr>
        <p:spPr>
          <a:xfrm>
            <a:off x="665143" y="1262744"/>
            <a:ext cx="3199285" cy="2969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w Cen MT Condensed" panose="020B0606020104020203" pitchFamily="34" charset="0"/>
              </a:rPr>
              <a:t>The dataset, “WHO Life Expectancy Data,” was sourced from Kaggle and includes statistics from WHO, the UN, and other global organizations.</a:t>
            </a:r>
          </a:p>
        </p:txBody>
      </p:sp>
      <p:grpSp>
        <p:nvGrpSpPr>
          <p:cNvPr id="271" name="Google Shape;271;p32"/>
          <p:cNvGrpSpPr/>
          <p:nvPr/>
        </p:nvGrpSpPr>
        <p:grpSpPr>
          <a:xfrm>
            <a:off x="718622" y="910870"/>
            <a:ext cx="959450" cy="99600"/>
            <a:chOff x="774912" y="910870"/>
            <a:chExt cx="959450" cy="99600"/>
          </a:xfrm>
        </p:grpSpPr>
        <p:sp>
          <p:nvSpPr>
            <p:cNvPr id="272" name="Google Shape;272;p32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2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1AE5B9D-B3B9-447C-A63B-85EF77938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970" y="0"/>
            <a:ext cx="5143500" cy="5143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212FCAD-5B51-4C8E-8F0E-489631FBB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59" y="55875"/>
            <a:ext cx="1392667" cy="1371600"/>
          </a:xfrm>
          <a:prstGeom prst="rect">
            <a:avLst/>
          </a:prstGeom>
        </p:spPr>
      </p:pic>
      <p:sp>
        <p:nvSpPr>
          <p:cNvPr id="13" name="Google Shape;257;p32">
            <a:extLst>
              <a:ext uri="{FF2B5EF4-FFF2-40B4-BE49-F238E27FC236}">
                <a16:creationId xmlns:a16="http://schemas.microsoft.com/office/drawing/2014/main" id="{60188A53-B993-4388-AA03-8E596DA07375}"/>
              </a:ext>
            </a:extLst>
          </p:cNvPr>
          <p:cNvSpPr txBox="1">
            <a:spLocks/>
          </p:cNvSpPr>
          <p:nvPr/>
        </p:nvSpPr>
        <p:spPr>
          <a:xfrm>
            <a:off x="4669036" y="546839"/>
            <a:ext cx="278840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KAGGLE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C2FEB9DF-E5B6-4D49-A893-9B90129D710F}"/>
              </a:ext>
            </a:extLst>
          </p:cNvPr>
          <p:cNvSpPr/>
          <p:nvPr/>
        </p:nvSpPr>
        <p:spPr>
          <a:xfrm>
            <a:off x="2363817" y="1351280"/>
            <a:ext cx="1912080" cy="1133470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600" b="1" u="sng" dirty="0">
                <a:solidFill>
                  <a:srgbClr val="0070C0"/>
                </a:solidFill>
                <a:latin typeface="+mj-lt"/>
              </a:rPr>
              <a:t>Data Cleaning</a:t>
            </a:r>
            <a:r>
              <a:rPr lang="en-US" sz="1600" u="sng" dirty="0">
                <a:solidFill>
                  <a:srgbClr val="0070C0"/>
                </a:solidFill>
                <a:latin typeface="+mj-lt"/>
              </a:rPr>
              <a:t> 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0070C0"/>
                </a:solidFill>
              </a:rPr>
              <a:t>Handled missing values &amp; standardized formats using Power query</a:t>
            </a:r>
            <a:endParaRPr sz="1200" b="1" dirty="0">
              <a:solidFill>
                <a:srgbClr val="0070C0"/>
              </a:solidFill>
            </a:endParaRPr>
          </a:p>
        </p:txBody>
      </p:sp>
      <p:sp>
        <p:nvSpPr>
          <p:cNvPr id="282" name="Google Shape;282;p33"/>
          <p:cNvSpPr txBox="1">
            <a:spLocks noGrp="1"/>
          </p:cNvSpPr>
          <p:nvPr>
            <p:ph type="title"/>
          </p:nvPr>
        </p:nvSpPr>
        <p:spPr>
          <a:xfrm>
            <a:off x="608025" y="295975"/>
            <a:ext cx="48424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PROJECT PROCESS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287" name="Google Shape;287;p33"/>
          <p:cNvGrpSpPr/>
          <p:nvPr/>
        </p:nvGrpSpPr>
        <p:grpSpPr>
          <a:xfrm>
            <a:off x="718622" y="910870"/>
            <a:ext cx="959450" cy="99600"/>
            <a:chOff x="774912" y="910870"/>
            <a:chExt cx="959450" cy="99600"/>
          </a:xfrm>
        </p:grpSpPr>
        <p:sp>
          <p:nvSpPr>
            <p:cNvPr id="288" name="Google Shape;288;p33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3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3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3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67F92630-FEFC-4C4B-92A3-894D720505BE}"/>
              </a:ext>
            </a:extLst>
          </p:cNvPr>
          <p:cNvSpPr/>
          <p:nvPr/>
        </p:nvSpPr>
        <p:spPr>
          <a:xfrm>
            <a:off x="56032" y="1340675"/>
            <a:ext cx="1912080" cy="114407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600" b="1" u="sng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Data Collection</a:t>
            </a:r>
            <a:r>
              <a:rPr lang="en-US" sz="1600" b="1" u="sng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200" b="1" dirty="0">
                <a:solidFill>
                  <a:srgbClr val="0070C0"/>
                </a:solidFill>
              </a:rPr>
              <a:t>Source Kaggle</a:t>
            </a:r>
            <a:r>
              <a:rPr sz="1200" b="1" dirty="0">
                <a:solidFill>
                  <a:srgbClr val="0070C0"/>
                </a:solidFill>
              </a:rPr>
              <a:t>(</a:t>
            </a:r>
            <a:r>
              <a:rPr lang="en-US" sz="1200" b="1" dirty="0">
                <a:solidFill>
                  <a:srgbClr val="0070C0"/>
                </a:solidFill>
              </a:rPr>
              <a:t>WHO Life Expectancy Dataset</a:t>
            </a:r>
            <a:r>
              <a:rPr lang="en-US" sz="1200" dirty="0">
                <a:solidFill>
                  <a:srgbClr val="0070C0"/>
                </a:solidFill>
              </a:rPr>
              <a:t>)</a:t>
            </a:r>
            <a:endParaRPr sz="1200" dirty="0">
              <a:solidFill>
                <a:srgbClr val="0070C0"/>
              </a:solidFill>
            </a:endParaRP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18DD2D40-FAF9-4B22-A643-AD0DFD8FF1A2}"/>
              </a:ext>
            </a:extLst>
          </p:cNvPr>
          <p:cNvSpPr/>
          <p:nvPr/>
        </p:nvSpPr>
        <p:spPr>
          <a:xfrm>
            <a:off x="4625150" y="1340675"/>
            <a:ext cx="1912080" cy="114407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600" b="1" u="sng" dirty="0">
                <a:solidFill>
                  <a:srgbClr val="0070C0"/>
                </a:solidFill>
                <a:latin typeface="+mj-lt"/>
              </a:rPr>
              <a:t>Transformation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Created calculated columns and merged related indicators</a:t>
            </a:r>
            <a:endParaRPr sz="1200" b="1" dirty="0">
              <a:solidFill>
                <a:srgbClr val="0070C0"/>
              </a:solidFill>
            </a:endParaRP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A62F3AEB-965B-457C-92E1-2532C33F9500}"/>
              </a:ext>
            </a:extLst>
          </p:cNvPr>
          <p:cNvSpPr/>
          <p:nvPr/>
        </p:nvSpPr>
        <p:spPr>
          <a:xfrm>
            <a:off x="6886483" y="1340675"/>
            <a:ext cx="1912080" cy="1133470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600" b="1" u="sng" dirty="0">
                <a:solidFill>
                  <a:srgbClr val="0070C0"/>
                </a:solidFill>
                <a:latin typeface="+mj-lt"/>
              </a:rPr>
              <a:t>DAX Measure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Used to create custom calculations and perform advanced data analysis in Power BI</a:t>
            </a:r>
            <a:endParaRPr sz="1200" b="1" dirty="0">
              <a:solidFill>
                <a:srgbClr val="0070C0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096822F-248C-4E7B-B9D4-F137C96A2D74}"/>
              </a:ext>
            </a:extLst>
          </p:cNvPr>
          <p:cNvSpPr/>
          <p:nvPr/>
        </p:nvSpPr>
        <p:spPr>
          <a:xfrm>
            <a:off x="1968112" y="1859280"/>
            <a:ext cx="395705" cy="5343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E1194C5-B137-43B5-8D57-9AE6A2C3CB2F}"/>
              </a:ext>
            </a:extLst>
          </p:cNvPr>
          <p:cNvSpPr/>
          <p:nvPr/>
        </p:nvSpPr>
        <p:spPr>
          <a:xfrm>
            <a:off x="4229445" y="1859280"/>
            <a:ext cx="395705" cy="5343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C1D8BCA-7643-45B3-A31A-6DDEAF081688}"/>
              </a:ext>
            </a:extLst>
          </p:cNvPr>
          <p:cNvSpPr/>
          <p:nvPr/>
        </p:nvSpPr>
        <p:spPr>
          <a:xfrm>
            <a:off x="6490778" y="1805848"/>
            <a:ext cx="395705" cy="5343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F48A81E-A9D0-415F-877A-729E64B11443}"/>
              </a:ext>
            </a:extLst>
          </p:cNvPr>
          <p:cNvSpPr/>
          <p:nvPr/>
        </p:nvSpPr>
        <p:spPr>
          <a:xfrm>
            <a:off x="8748295" y="1907410"/>
            <a:ext cx="395705" cy="5343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0B006FA1-F1F0-4D31-9E01-BA9E30668D67}"/>
              </a:ext>
            </a:extLst>
          </p:cNvPr>
          <p:cNvSpPr/>
          <p:nvPr/>
        </p:nvSpPr>
        <p:spPr>
          <a:xfrm>
            <a:off x="8910321" y="1960842"/>
            <a:ext cx="71120" cy="1133470"/>
          </a:xfrm>
          <a:prstGeom prst="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82593638-71C3-4CBB-9848-4BF83158A673}"/>
              </a:ext>
            </a:extLst>
          </p:cNvPr>
          <p:cNvSpPr/>
          <p:nvPr/>
        </p:nvSpPr>
        <p:spPr>
          <a:xfrm>
            <a:off x="7233920" y="3094312"/>
            <a:ext cx="1747521" cy="8352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CC6AF88A-323B-4C90-9248-65D575806356}"/>
              </a:ext>
            </a:extLst>
          </p:cNvPr>
          <p:cNvSpPr/>
          <p:nvPr/>
        </p:nvSpPr>
        <p:spPr>
          <a:xfrm>
            <a:off x="5321840" y="2630903"/>
            <a:ext cx="1912080" cy="114407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600" b="1" u="sng" dirty="0">
                <a:solidFill>
                  <a:schemeClr val="accent2"/>
                </a:solidFill>
                <a:latin typeface="+mj-lt"/>
              </a:rPr>
              <a:t>Visualization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b="1" dirty="0">
                <a:solidFill>
                  <a:schemeClr val="accent2"/>
                </a:solidFill>
              </a:rPr>
              <a:t>Built interactive dashboards in Power BI</a:t>
            </a:r>
            <a:endParaRPr sz="1200" b="1" dirty="0">
              <a:solidFill>
                <a:schemeClr val="accent2"/>
              </a:solidFill>
            </a:endParaRP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7D7FA28D-773C-4725-920B-91A3889BE1F8}"/>
              </a:ext>
            </a:extLst>
          </p:cNvPr>
          <p:cNvSpPr/>
          <p:nvPr/>
        </p:nvSpPr>
        <p:spPr>
          <a:xfrm>
            <a:off x="4572000" y="3094312"/>
            <a:ext cx="749840" cy="8352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ED1B1637-220C-4982-85F0-FF77BE4777BA}"/>
              </a:ext>
            </a:extLst>
          </p:cNvPr>
          <p:cNvSpPr/>
          <p:nvPr/>
        </p:nvSpPr>
        <p:spPr>
          <a:xfrm>
            <a:off x="2529840" y="2644141"/>
            <a:ext cx="2030000" cy="1193707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600" b="1" u="sng" dirty="0">
                <a:solidFill>
                  <a:schemeClr val="accent2"/>
                </a:solidFill>
                <a:latin typeface="+mj-lt"/>
              </a:rPr>
              <a:t>Insight Generation </a:t>
            </a:r>
            <a:r>
              <a:rPr lang="en-US" b="1" dirty="0">
                <a:solidFill>
                  <a:schemeClr val="accent2"/>
                </a:solidFill>
              </a:rPr>
              <a:t>Identified key influencing factors and trends across countries</a:t>
            </a:r>
            <a:endParaRPr sz="12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/>
          <p:nvPr/>
        </p:nvSpPr>
        <p:spPr>
          <a:xfrm>
            <a:off x="-91725" y="1478847"/>
            <a:ext cx="8057400" cy="22113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299" name="Google Shape;299;p34"/>
          <p:cNvSpPr txBox="1">
            <a:spLocks noGrp="1"/>
          </p:cNvSpPr>
          <p:nvPr>
            <p:ph type="title"/>
          </p:nvPr>
        </p:nvSpPr>
        <p:spPr>
          <a:xfrm>
            <a:off x="283164" y="152402"/>
            <a:ext cx="7321800" cy="486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DATA PRESENTATION</a:t>
            </a:r>
            <a:endParaRPr u="sng" dirty="0"/>
          </a:p>
        </p:txBody>
      </p:sp>
      <p:sp>
        <p:nvSpPr>
          <p:cNvPr id="300" name="Google Shape;300;p34"/>
          <p:cNvSpPr txBox="1">
            <a:spLocks noGrp="1"/>
          </p:cNvSpPr>
          <p:nvPr>
            <p:ph type="body" idx="1"/>
          </p:nvPr>
        </p:nvSpPr>
        <p:spPr>
          <a:xfrm>
            <a:off x="283164" y="1056640"/>
            <a:ext cx="4156756" cy="35864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114300" indent="0" algn="ctr">
              <a:buNone/>
            </a:pPr>
            <a:r>
              <a:rPr lang="en-US" sz="1400" b="1" u="sng" dirty="0">
                <a:solidFill>
                  <a:schemeClr val="accent2"/>
                </a:solidFill>
              </a:rPr>
              <a:t>Education and Life Expectancy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400" b="1" dirty="0">
                <a:solidFill>
                  <a:schemeClr val="accent2"/>
                </a:solidFill>
              </a:rPr>
              <a:t>Top 10 Countries</a:t>
            </a: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Developed nations like </a:t>
            </a:r>
            <a:r>
              <a:rPr lang="en-US" sz="1400" b="1" dirty="0">
                <a:solidFill>
                  <a:schemeClr val="accent2"/>
                </a:solidFill>
              </a:rPr>
              <a:t>Australia (20%)</a:t>
            </a:r>
            <a:r>
              <a:rPr lang="en-US" sz="1400" dirty="0">
                <a:solidFill>
                  <a:schemeClr val="accent2"/>
                </a:solidFill>
              </a:rPr>
              <a:t>, </a:t>
            </a:r>
            <a:r>
              <a:rPr lang="en-US" sz="1400" b="1" dirty="0">
                <a:solidFill>
                  <a:schemeClr val="accent2"/>
                </a:solidFill>
              </a:rPr>
              <a:t>New Zealand</a:t>
            </a:r>
            <a:r>
              <a:rPr lang="en-US" sz="1400" dirty="0">
                <a:solidFill>
                  <a:schemeClr val="accent2"/>
                </a:solidFill>
              </a:rPr>
              <a:t>, and </a:t>
            </a:r>
            <a:r>
              <a:rPr lang="en-US" sz="1400" b="1" dirty="0">
                <a:solidFill>
                  <a:schemeClr val="accent2"/>
                </a:solidFill>
              </a:rPr>
              <a:t>Ireland</a:t>
            </a:r>
            <a:r>
              <a:rPr lang="en-US" sz="1400" dirty="0">
                <a:solidFill>
                  <a:schemeClr val="accent2"/>
                </a:solidFill>
              </a:rPr>
              <a:t> show high schooling rates linked to longer life expectancy.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b="1" dirty="0">
                <a:solidFill>
                  <a:schemeClr val="accent2"/>
                </a:solidFill>
              </a:rPr>
              <a:t>Bottom 10 Countries</a:t>
            </a: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Developing countries such as </a:t>
            </a:r>
            <a:r>
              <a:rPr lang="en-US" sz="1400" b="1" dirty="0">
                <a:solidFill>
                  <a:schemeClr val="accent2"/>
                </a:solidFill>
              </a:rPr>
              <a:t>South Sudan (2%)</a:t>
            </a:r>
            <a:r>
              <a:rPr lang="en-US" sz="1400" dirty="0">
                <a:solidFill>
                  <a:schemeClr val="accent2"/>
                </a:solidFill>
              </a:rPr>
              <a:t>, </a:t>
            </a:r>
            <a:r>
              <a:rPr lang="en-US" sz="1400" b="1" dirty="0">
                <a:solidFill>
                  <a:schemeClr val="accent2"/>
                </a:solidFill>
              </a:rPr>
              <a:t>Niger</a:t>
            </a:r>
            <a:r>
              <a:rPr lang="en-US" sz="1400" dirty="0">
                <a:solidFill>
                  <a:schemeClr val="accent2"/>
                </a:solidFill>
              </a:rPr>
              <a:t>, and </a:t>
            </a:r>
            <a:r>
              <a:rPr lang="en-US" sz="1400" b="1" dirty="0">
                <a:solidFill>
                  <a:schemeClr val="accent2"/>
                </a:solidFill>
              </a:rPr>
              <a:t>Chad</a:t>
            </a:r>
            <a:r>
              <a:rPr lang="en-US" sz="1400" dirty="0">
                <a:solidFill>
                  <a:schemeClr val="accent2"/>
                </a:solidFill>
              </a:rPr>
              <a:t> have low education levels and shorter life expectancy.</a:t>
            </a:r>
          </a:p>
          <a:p>
            <a:pPr marL="127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400" dirty="0">
              <a:solidFill>
                <a:schemeClr val="accent2"/>
              </a:solidFill>
            </a:endParaRPr>
          </a:p>
        </p:txBody>
      </p:sp>
      <p:grpSp>
        <p:nvGrpSpPr>
          <p:cNvPr id="301" name="Google Shape;301;p34"/>
          <p:cNvGrpSpPr/>
          <p:nvPr/>
        </p:nvGrpSpPr>
        <p:grpSpPr>
          <a:xfrm>
            <a:off x="378770" y="740347"/>
            <a:ext cx="959450" cy="106638"/>
            <a:chOff x="774912" y="910870"/>
            <a:chExt cx="959450" cy="99600"/>
          </a:xfrm>
        </p:grpSpPr>
        <p:sp>
          <p:nvSpPr>
            <p:cNvPr id="302" name="Google Shape;302;p34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4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4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306;p34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7DEBCAF-82B9-4B4A-8D0C-6C84404BE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83" y="513704"/>
            <a:ext cx="3544547" cy="46297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/>
          <p:nvPr/>
        </p:nvSpPr>
        <p:spPr>
          <a:xfrm>
            <a:off x="3378925" y="1391225"/>
            <a:ext cx="682500" cy="4024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5"/>
          <p:cNvSpPr/>
          <p:nvPr/>
        </p:nvSpPr>
        <p:spPr>
          <a:xfrm>
            <a:off x="5097175" y="1391225"/>
            <a:ext cx="682500" cy="4024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title"/>
          </p:nvPr>
        </p:nvSpPr>
        <p:spPr>
          <a:xfrm>
            <a:off x="338575" y="157780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bg1"/>
                </a:solidFill>
              </a:rPr>
              <a:t>DATA PRESENTATION</a:t>
            </a:r>
            <a:endParaRPr u="sng" dirty="0">
              <a:solidFill>
                <a:schemeClr val="bg1"/>
              </a:solidFill>
            </a:endParaRPr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2"/>
          </p:nvPr>
        </p:nvSpPr>
        <p:spPr>
          <a:xfrm>
            <a:off x="264161" y="1178560"/>
            <a:ext cx="3992880" cy="380716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b="1" u="sng" dirty="0">
                <a:solidFill>
                  <a:schemeClr val="accent4"/>
                </a:solidFill>
              </a:rPr>
              <a:t>Income Composition and Life Expectancy</a:t>
            </a:r>
          </a:p>
          <a:p>
            <a:pPr algn="l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 </a:t>
            </a:r>
            <a:r>
              <a:rPr lang="en-US" sz="1600" b="1" dirty="0">
                <a:solidFill>
                  <a:schemeClr val="accent4"/>
                </a:solidFill>
                <a:latin typeface="Tw Cen MT" panose="020B0602020104020603" pitchFamily="34" charset="0"/>
              </a:rPr>
              <a:t>Top 5 Countries (High Income Composition)</a:t>
            </a:r>
            <a:b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</a:b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Developed countries like </a:t>
            </a:r>
            <a:r>
              <a:rPr lang="en-US" sz="1600" b="1" dirty="0">
                <a:solidFill>
                  <a:schemeClr val="accent4"/>
                </a:solidFill>
                <a:latin typeface="Tw Cen MT" panose="020B0602020104020603" pitchFamily="34" charset="0"/>
              </a:rPr>
              <a:t>Norway (93%)</a:t>
            </a: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, </a:t>
            </a:r>
            <a:r>
              <a:rPr lang="en-US" sz="1600" b="1" dirty="0">
                <a:solidFill>
                  <a:schemeClr val="accent4"/>
                </a:solidFill>
                <a:latin typeface="Tw Cen MT" panose="020B0602020104020603" pitchFamily="34" charset="0"/>
              </a:rPr>
              <a:t>Australia</a:t>
            </a: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, and </a:t>
            </a:r>
            <a:r>
              <a:rPr lang="en-US" sz="1600" b="1" dirty="0">
                <a:solidFill>
                  <a:schemeClr val="accent4"/>
                </a:solidFill>
                <a:latin typeface="Tw Cen MT" panose="020B0602020104020603" pitchFamily="34" charset="0"/>
              </a:rPr>
              <a:t>Switzerland</a:t>
            </a: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 demonstrate high income composition, correlating with longer life expectancy.</a:t>
            </a:r>
          </a:p>
          <a:p>
            <a:pPr marL="285750" indent="-171450" algn="l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4"/>
                </a:solidFill>
                <a:latin typeface="Tw Cen MT" panose="020B0602020104020603" pitchFamily="34" charset="0"/>
              </a:rPr>
              <a:t>Top 5 Countries (Low Income Composition)</a:t>
            </a:r>
            <a:b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</a:b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Developing nations such as </a:t>
            </a:r>
            <a:r>
              <a:rPr lang="en-US" sz="1600" b="1" dirty="0">
                <a:solidFill>
                  <a:schemeClr val="accent4"/>
                </a:solidFill>
                <a:latin typeface="Tw Cen MT" panose="020B0602020104020603" pitchFamily="34" charset="0"/>
              </a:rPr>
              <a:t>South Sudan (13%)</a:t>
            </a: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, </a:t>
            </a:r>
            <a:r>
              <a:rPr lang="en-US" sz="1600" b="1" dirty="0">
                <a:solidFill>
                  <a:schemeClr val="accent4"/>
                </a:solidFill>
                <a:latin typeface="Tw Cen MT" panose="020B0602020104020603" pitchFamily="34" charset="0"/>
              </a:rPr>
              <a:t>Bhutan</a:t>
            </a: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, and </a:t>
            </a:r>
            <a:r>
              <a:rPr lang="en-US" sz="1600" b="1" dirty="0">
                <a:solidFill>
                  <a:schemeClr val="accent4"/>
                </a:solidFill>
                <a:latin typeface="Tw Cen MT" panose="020B0602020104020603" pitchFamily="34" charset="0"/>
              </a:rPr>
              <a:t>Burkina Faso</a:t>
            </a:r>
            <a:r>
              <a:rPr lang="en-US" sz="1600" dirty="0">
                <a:solidFill>
                  <a:schemeClr val="accent4"/>
                </a:solidFill>
                <a:latin typeface="Tw Cen MT" panose="020B0602020104020603" pitchFamily="34" charset="0"/>
              </a:rPr>
              <a:t> show low income levels, associated with shorter life expectancy.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38" name="Google Shape;338;p35"/>
          <p:cNvGrpSpPr/>
          <p:nvPr/>
        </p:nvGrpSpPr>
        <p:grpSpPr>
          <a:xfrm>
            <a:off x="454462" y="776332"/>
            <a:ext cx="959450" cy="99600"/>
            <a:chOff x="774912" y="910870"/>
            <a:chExt cx="959450" cy="99600"/>
          </a:xfrm>
        </p:grpSpPr>
        <p:sp>
          <p:nvSpPr>
            <p:cNvPr id="339" name="Google Shape;339;p35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1C4D24F5-EDA2-463D-B2AF-F11E2568A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00" y="629920"/>
            <a:ext cx="3711138" cy="4513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37"/>
          <p:cNvGrpSpPr/>
          <p:nvPr/>
        </p:nvGrpSpPr>
        <p:grpSpPr>
          <a:xfrm>
            <a:off x="1381577" y="808041"/>
            <a:ext cx="959450" cy="99600"/>
            <a:chOff x="774912" y="910870"/>
            <a:chExt cx="959450" cy="99600"/>
          </a:xfrm>
        </p:grpSpPr>
        <p:sp>
          <p:nvSpPr>
            <p:cNvPr id="511" name="Google Shape;511;p37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7" name="Google Shape;517;p37"/>
          <p:cNvSpPr txBox="1">
            <a:spLocks noGrp="1"/>
          </p:cNvSpPr>
          <p:nvPr>
            <p:ph type="title"/>
          </p:nvPr>
        </p:nvSpPr>
        <p:spPr>
          <a:xfrm>
            <a:off x="408385" y="98807"/>
            <a:ext cx="6354446" cy="7010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</a:t>
            </a:r>
            <a:endParaRPr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Google Shape;353;p36">
            <a:extLst>
              <a:ext uri="{FF2B5EF4-FFF2-40B4-BE49-F238E27FC236}">
                <a16:creationId xmlns:a16="http://schemas.microsoft.com/office/drawing/2014/main" id="{BE150E4D-EEF5-430F-8EEA-3E7648B11854}"/>
              </a:ext>
            </a:extLst>
          </p:cNvPr>
          <p:cNvSpPr/>
          <p:nvPr/>
        </p:nvSpPr>
        <p:spPr>
          <a:xfrm>
            <a:off x="804733" y="1112672"/>
            <a:ext cx="4569907" cy="91558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i="1" dirty="0">
                <a:solidFill>
                  <a:schemeClr val="accent4"/>
                </a:solidFill>
                <a:latin typeface="Tw Cen MT" panose="020B0602020104020603" pitchFamily="34" charset="0"/>
              </a:rPr>
              <a:t>         </a:t>
            </a:r>
            <a:r>
              <a:rPr lang="en-US" b="1" i="1" u="sng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Immunization</a:t>
            </a:r>
          </a:p>
          <a:p>
            <a:r>
              <a:rPr lang="en-US" b="1" i="1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Higher vaccination coverage (Hepatitis B, Polio) Linked to Longer life expectancy.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</a:pPr>
            <a:endParaRPr lang="en-US" b="1" i="1" u="sng" dirty="0">
              <a:solidFill>
                <a:schemeClr val="accent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353;p36">
            <a:extLst>
              <a:ext uri="{FF2B5EF4-FFF2-40B4-BE49-F238E27FC236}">
                <a16:creationId xmlns:a16="http://schemas.microsoft.com/office/drawing/2014/main" id="{2A196ABE-216F-4FF6-AC33-37C6F9F230BE}"/>
              </a:ext>
            </a:extLst>
          </p:cNvPr>
          <p:cNvSpPr/>
          <p:nvPr/>
        </p:nvSpPr>
        <p:spPr>
          <a:xfrm>
            <a:off x="820215" y="2403763"/>
            <a:ext cx="4483305" cy="729619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b="1" dirty="0">
              <a:solidFill>
                <a:schemeClr val="accent4"/>
              </a:solidFill>
            </a:endParaRPr>
          </a:p>
          <a:p>
            <a:pPr algn="ctr"/>
            <a:r>
              <a:rPr lang="en-US" b="1" i="1" u="sng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GDP &amp; Health Spending</a:t>
            </a:r>
          </a:p>
          <a:p>
            <a:r>
              <a:rPr lang="en-US" b="1" i="1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Higher GDP and Balanced health spending lead to Longer life expectancy.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</a:pPr>
            <a:endParaRPr i="1" dirty="0">
              <a:solidFill>
                <a:schemeClr val="accent4"/>
              </a:solidFill>
              <a:latin typeface="Tw Cen MT" panose="020B0602020104020603" pitchFamily="34" charset="0"/>
            </a:endParaRPr>
          </a:p>
        </p:txBody>
      </p:sp>
      <p:sp>
        <p:nvSpPr>
          <p:cNvPr id="13" name="Google Shape;353;p36">
            <a:extLst>
              <a:ext uri="{FF2B5EF4-FFF2-40B4-BE49-F238E27FC236}">
                <a16:creationId xmlns:a16="http://schemas.microsoft.com/office/drawing/2014/main" id="{7B741542-3FB2-41BE-A77D-0B5210E5999B}"/>
              </a:ext>
            </a:extLst>
          </p:cNvPr>
          <p:cNvSpPr/>
          <p:nvPr/>
        </p:nvSpPr>
        <p:spPr>
          <a:xfrm>
            <a:off x="796059" y="3543444"/>
            <a:ext cx="4569907" cy="142086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en-US" b="1" i="1" u="sng" dirty="0">
              <a:solidFill>
                <a:schemeClr val="accent4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en-US" b="1" i="1" u="sng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Social Factors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i="1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Education and Income have Positive impact on longevity.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i="1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Higher alcohol use Does not always lower life expectancy.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</a:pPr>
            <a:endParaRPr sz="1200" i="1" dirty="0">
              <a:solidFill>
                <a:schemeClr val="accent4"/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Google Shape;353;p36">
            <a:extLst>
              <a:ext uri="{FF2B5EF4-FFF2-40B4-BE49-F238E27FC236}">
                <a16:creationId xmlns:a16="http://schemas.microsoft.com/office/drawing/2014/main" id="{15A4B9D8-E2E8-4E86-9BD0-4B1A8CF0F76B}"/>
              </a:ext>
            </a:extLst>
          </p:cNvPr>
          <p:cNvSpPr/>
          <p:nvPr/>
        </p:nvSpPr>
        <p:spPr>
          <a:xfrm>
            <a:off x="6170993" y="1088302"/>
            <a:ext cx="2973005" cy="1048628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1" u="sng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Mortality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Declines in adult &amp; infant mortality Increases in life expectancy.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</a:pPr>
            <a:endParaRPr sz="1000" i="1" dirty="0">
              <a:solidFill>
                <a:schemeClr val="accent4"/>
              </a:solidFill>
              <a:latin typeface="Tw Cen MT" panose="020B0602020104020603" pitchFamily="34" charset="0"/>
            </a:endParaRPr>
          </a:p>
        </p:txBody>
      </p:sp>
      <p:sp>
        <p:nvSpPr>
          <p:cNvPr id="15" name="Google Shape;353;p36">
            <a:extLst>
              <a:ext uri="{FF2B5EF4-FFF2-40B4-BE49-F238E27FC236}">
                <a16:creationId xmlns:a16="http://schemas.microsoft.com/office/drawing/2014/main" id="{708A69A3-FF3A-4931-B291-018C24FE83EB}"/>
              </a:ext>
            </a:extLst>
          </p:cNvPr>
          <p:cNvSpPr/>
          <p:nvPr/>
        </p:nvSpPr>
        <p:spPr>
          <a:xfrm>
            <a:off x="6170993" y="2348806"/>
            <a:ext cx="2973005" cy="1907618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 i="1" u="sng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Regional Trends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i="1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Developed countries  Benefit from strong health systems.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i="1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Developing countries  Face challenges due to limited resources</a:t>
            </a:r>
            <a:r>
              <a:rPr lang="en-US" sz="1200" dirty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</a:pPr>
            <a:endParaRPr sz="2800" i="1" dirty="0">
              <a:solidFill>
                <a:schemeClr val="accent4"/>
              </a:solidFill>
              <a:latin typeface="Tw Cen MT" panose="020B06020201040206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383D0-DC7D-4041-BD49-39C8D7DD9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3631" y="1088302"/>
            <a:ext cx="984033" cy="6979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692825-F0A7-4061-8805-9483E7F09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323378"/>
            <a:ext cx="820215" cy="7296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EE35ED-1BC1-44A4-82BD-2118C082AB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157" y="3779520"/>
            <a:ext cx="719445" cy="9105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26376A-AD90-45B1-BCE7-83EC332355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5555" y="1076194"/>
            <a:ext cx="715644" cy="8980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1BD83FA-FC59-4B62-A729-B78140B976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7360" y="2413278"/>
            <a:ext cx="715644" cy="1048628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F1D2ED0-6170-4E3A-833A-7F54E6DEBFF7}"/>
              </a:ext>
            </a:extLst>
          </p:cNvPr>
          <p:cNvCxnSpPr>
            <a:cxnSpLocks/>
          </p:cNvCxnSpPr>
          <p:nvPr/>
        </p:nvCxnSpPr>
        <p:spPr>
          <a:xfrm>
            <a:off x="5445760" y="880231"/>
            <a:ext cx="0" cy="42632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39"/>
          <p:cNvPicPr preferRelativeResize="0"/>
          <p:nvPr/>
        </p:nvPicPr>
        <p:blipFill rotWithShape="1">
          <a:blip r:embed="rId3">
            <a:alphaModFix/>
          </a:blip>
          <a:srcRect l="30279" t="38499" b="669"/>
          <a:stretch/>
        </p:blipFill>
        <p:spPr>
          <a:xfrm>
            <a:off x="0" y="-28100"/>
            <a:ext cx="4445199" cy="5171599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9"/>
          <p:cNvSpPr/>
          <p:nvPr/>
        </p:nvSpPr>
        <p:spPr>
          <a:xfrm>
            <a:off x="-2475" y="-28100"/>
            <a:ext cx="4445100" cy="5171700"/>
          </a:xfrm>
          <a:prstGeom prst="rect">
            <a:avLst/>
          </a:prstGeom>
          <a:solidFill>
            <a:srgbClr val="364ABF">
              <a:alpha val="82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7" name="Google Shape;537;p39"/>
          <p:cNvCxnSpPr>
            <a:cxnSpLocks/>
          </p:cNvCxnSpPr>
          <p:nvPr/>
        </p:nvCxnSpPr>
        <p:spPr>
          <a:xfrm>
            <a:off x="5464212" y="868675"/>
            <a:ext cx="0" cy="4274824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547" name="Google Shape;547;p39"/>
          <p:cNvGrpSpPr/>
          <p:nvPr/>
        </p:nvGrpSpPr>
        <p:grpSpPr>
          <a:xfrm>
            <a:off x="718622" y="910870"/>
            <a:ext cx="959450" cy="99600"/>
            <a:chOff x="774912" y="910870"/>
            <a:chExt cx="959450" cy="99600"/>
          </a:xfrm>
        </p:grpSpPr>
        <p:sp>
          <p:nvSpPr>
            <p:cNvPr id="548" name="Google Shape;548;p39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E0FF8D0-73DC-4A40-8424-5BF2E617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RECOMMENDATION </a:t>
            </a:r>
            <a:r>
              <a:rPr lang="en-US" sz="2800" u="sng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STAKEHOLDERS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Google Shape;353;p36">
            <a:extLst>
              <a:ext uri="{FF2B5EF4-FFF2-40B4-BE49-F238E27FC236}">
                <a16:creationId xmlns:a16="http://schemas.microsoft.com/office/drawing/2014/main" id="{5CC82B06-4DA2-4836-839E-946E62F15BCC}"/>
              </a:ext>
            </a:extLst>
          </p:cNvPr>
          <p:cNvSpPr/>
          <p:nvPr/>
        </p:nvSpPr>
        <p:spPr>
          <a:xfrm>
            <a:off x="197271" y="910870"/>
            <a:ext cx="4961401" cy="4185019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3200" b="1" i="1" dirty="0"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Invest in Immunization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3200" b="1" i="1" dirty="0"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Enhance Health Spending</a:t>
            </a:r>
            <a:endParaRPr lang="en-US" sz="3200" b="1" i="1" dirty="0">
              <a:solidFill>
                <a:schemeClr val="accent4"/>
              </a:solidFill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3200" b="1" i="1" dirty="0"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Promote Education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3200" b="1" i="1" dirty="0"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Address Socioeconomic Disparities</a:t>
            </a:r>
            <a:endParaRPr lang="en-US" sz="3200" b="1" i="1" dirty="0">
              <a:solidFill>
                <a:schemeClr val="accent4"/>
              </a:solidFill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3200" b="1" i="1" dirty="0"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Monitor Alcohol Consumption</a:t>
            </a:r>
            <a:endParaRPr sz="3200" i="1" dirty="0">
              <a:solidFill>
                <a:schemeClr val="accent4"/>
              </a:solidFill>
              <a:latin typeface="Tw Cen MT" panose="020B06020201040206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B3570BA-43C8-49D4-A28A-7AF321DCA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247" y="868675"/>
            <a:ext cx="3982753" cy="42272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0"/>
          <p:cNvSpPr txBox="1">
            <a:spLocks noGrp="1"/>
          </p:cNvSpPr>
          <p:nvPr>
            <p:ph type="title"/>
          </p:nvPr>
        </p:nvSpPr>
        <p:spPr>
          <a:xfrm>
            <a:off x="543730" y="171450"/>
            <a:ext cx="791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u="sng" dirty="0"/>
              <a:t>PROJECT LIMITATION</a:t>
            </a:r>
            <a:endParaRPr i="1" u="sng" dirty="0"/>
          </a:p>
        </p:txBody>
      </p:sp>
      <p:grpSp>
        <p:nvGrpSpPr>
          <p:cNvPr id="578" name="Google Shape;578;p40"/>
          <p:cNvGrpSpPr/>
          <p:nvPr/>
        </p:nvGrpSpPr>
        <p:grpSpPr>
          <a:xfrm>
            <a:off x="383342" y="706812"/>
            <a:ext cx="959450" cy="99600"/>
            <a:chOff x="774912" y="910870"/>
            <a:chExt cx="959450" cy="99600"/>
          </a:xfrm>
        </p:grpSpPr>
        <p:sp>
          <p:nvSpPr>
            <p:cNvPr id="579" name="Google Shape;579;p40"/>
            <p:cNvSpPr/>
            <p:nvPr/>
          </p:nvSpPr>
          <p:spPr>
            <a:xfrm>
              <a:off x="7749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0"/>
            <p:cNvSpPr/>
            <p:nvPr/>
          </p:nvSpPr>
          <p:spPr>
            <a:xfrm>
              <a:off x="9465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0"/>
            <p:cNvSpPr/>
            <p:nvPr/>
          </p:nvSpPr>
          <p:spPr>
            <a:xfrm>
              <a:off x="11181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0"/>
            <p:cNvSpPr/>
            <p:nvPr/>
          </p:nvSpPr>
          <p:spPr>
            <a:xfrm>
              <a:off x="129151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" name="Google Shape;583;p40"/>
            <p:cNvSpPr/>
            <p:nvPr/>
          </p:nvSpPr>
          <p:spPr>
            <a:xfrm>
              <a:off x="1463137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0"/>
            <p:cNvSpPr/>
            <p:nvPr/>
          </p:nvSpPr>
          <p:spPr>
            <a:xfrm>
              <a:off x="1634762" y="910870"/>
              <a:ext cx="99600" cy="9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1614C13-2FB5-41E9-8BCC-DFEEEFFF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80" y="868674"/>
            <a:ext cx="4643120" cy="4274825"/>
          </a:xfrm>
          <a:prstGeom prst="rect">
            <a:avLst/>
          </a:prstGeom>
        </p:spPr>
      </p:pic>
      <p:sp>
        <p:nvSpPr>
          <p:cNvPr id="47" name="Google Shape;560;p40">
            <a:extLst>
              <a:ext uri="{FF2B5EF4-FFF2-40B4-BE49-F238E27FC236}">
                <a16:creationId xmlns:a16="http://schemas.microsoft.com/office/drawing/2014/main" id="{35C6BADF-B4FD-4062-A932-47ACBD19D42A}"/>
              </a:ext>
            </a:extLst>
          </p:cNvPr>
          <p:cNvSpPr txBox="1">
            <a:spLocks/>
          </p:cNvSpPr>
          <p:nvPr/>
        </p:nvSpPr>
        <p:spPr>
          <a:xfrm>
            <a:off x="120345" y="868675"/>
            <a:ext cx="4380535" cy="425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Verdana" panose="020B0604030504040204" pitchFamily="34" charset="0"/>
              </a:rPr>
              <a:t>Missing or inconsistent data affected accuracy.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Verdana" panose="020B0604030504040204" pitchFamily="34" charset="0"/>
              </a:rPr>
              <a:t>Dataset only covers years up to a certain point — may not reflect present conditions.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Verdana" panose="020B0604030504040204" pitchFamily="34" charset="0"/>
              </a:rPr>
              <a:t>Region-specific factors (culture, diet, lifestyle) were not included.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Verdana" panose="020B0604030504040204" pitchFamily="34" charset="0"/>
              </a:rPr>
              <a:t>Healthcare quality and infrastructure were not captured.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Verdana" panose="020B0604030504040204" pitchFamily="34" charset="0"/>
              </a:rPr>
              <a:t>Indicators like income and education were broad, hiding internal disparities.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Tw Cen MT" panose="020B0602020104020603" pitchFamily="34" charset="0"/>
                <a:ea typeface="Verdana" panose="020B0604030504040204" pitchFamily="34" charset="0"/>
              </a:rPr>
              <a:t>External influences (politics, pandemics, climate change) were not considered.</a:t>
            </a:r>
          </a:p>
          <a:p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55DB-C20E-4127-B204-A167A118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25" y="295974"/>
            <a:ext cx="7914300" cy="4847526"/>
          </a:xfrm>
          <a:solidFill>
            <a:schemeClr val="accent4"/>
          </a:solidFill>
        </p:spPr>
        <p:txBody>
          <a:bodyPr/>
          <a:lstStyle/>
          <a:p>
            <a:pPr algn="ctr"/>
            <a:br>
              <a:rPr lang="en-US" sz="6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chemeClr val="bg1"/>
                </a:solidFill>
              </a:rPr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4066036556"/>
      </p:ext>
    </p:extLst>
  </p:cSld>
  <p:clrMapOvr>
    <a:masterClrMapping/>
  </p:clrMapOvr>
</p:sld>
</file>

<file path=ppt/theme/theme1.xml><?xml version="1.0" encoding="utf-8"?>
<a:theme xmlns:a="http://schemas.openxmlformats.org/drawingml/2006/main" name="  Formal Breakthrough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9EEF2"/>
      </a:lt2>
      <a:accent1>
        <a:srgbClr val="D69D56"/>
      </a:accent1>
      <a:accent2>
        <a:srgbClr val="3663BF"/>
      </a:accent2>
      <a:accent3>
        <a:srgbClr val="364ABF"/>
      </a:accent3>
      <a:accent4>
        <a:srgbClr val="1B33BF"/>
      </a:accent4>
      <a:accent5>
        <a:srgbClr val="79AAFC"/>
      </a:accent5>
      <a:accent6>
        <a:srgbClr val="C9DAF8"/>
      </a:accent6>
      <a:hlink>
        <a:srgbClr val="6FA8D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615</Words>
  <Application>Microsoft Office PowerPoint</Application>
  <PresentationFormat>On-screen Show (16:9)</PresentationFormat>
  <Paragraphs>83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Raleway</vt:lpstr>
      <vt:lpstr>Wingdings</vt:lpstr>
      <vt:lpstr>Tw Cen MT Condensed</vt:lpstr>
      <vt:lpstr>Raleway Medium</vt:lpstr>
      <vt:lpstr>Verdana</vt:lpstr>
      <vt:lpstr>Tw Cen MT</vt:lpstr>
      <vt:lpstr>Arial</vt:lpstr>
      <vt:lpstr>Times New Roman</vt:lpstr>
      <vt:lpstr>  Formal Breakthrough by Slidesgo</vt:lpstr>
      <vt:lpstr>ANALYZING THE FACTORS THAT AFFECT LIFE EXPECTANCY      Presented by   ADEDOKUN ENIOLA    April, 2025 </vt:lpstr>
      <vt:lpstr>PowerPoint Presentation</vt:lpstr>
      <vt:lpstr>TABLE OF CONTENTS</vt:lpstr>
      <vt:lpstr>AIM &amp; OBJECTIVES</vt:lpstr>
      <vt:lpstr>DATA DESCRIPTION</vt:lpstr>
      <vt:lpstr>DATA SOURCE</vt:lpstr>
      <vt:lpstr>PROJECT PROCESS</vt:lpstr>
      <vt:lpstr>DATA PRESENTATION</vt:lpstr>
      <vt:lpstr>DATA PRESENTATION</vt:lpstr>
      <vt:lpstr>KEY INSIGHT</vt:lpstr>
      <vt:lpstr>RECOMMENDATION FOR STAKEHOLDERS</vt:lpstr>
      <vt:lpstr>PROJECT LIMITATION</vt:lpstr>
      <vt:lpstr> 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 FACTORS THAT AFFECT LIFE EXPECTANCY     Presented by  ADEDOKUN ENIOLA  April, 2025</dc:title>
  <dc:creator>Adedokun Eniola</dc:creator>
  <cp:lastModifiedBy>Adedokun Eniola</cp:lastModifiedBy>
  <cp:revision>55</cp:revision>
  <dcterms:modified xsi:type="dcterms:W3CDTF">2025-04-14T10:23:13Z</dcterms:modified>
</cp:coreProperties>
</file>